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元動画は視聴できていないため、タイトルに並ぶ論点とClaude Codeの実際の仕様をもとに構成している。最終ページの注記を参照。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6本立て。01と02が入口、03が実演、04と05が実務、06が経営視点。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ポイントは速さではなく、主語が移ること。コピペの往復が丸ごと消える。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比較を勝ち負けで語らない。役割分担として話すほうが納得されやすい。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「今までは人に頼むか諦めるかの二択だった。そこに三つ目が増える」が一番刺さる言い方。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何でも並列にすればいいわけではない、と必ず添える。ここを言わないと薄い話になる。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ここが動画で一番引用されやすい論点。実例は自分の仕事から出すと強い。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3行フレームは持ち帰りやすいので、資料の中で一番使われるページになりやすい。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判断基準を1つだけ渡すのが大事。「2回説明したら書く」以外は覚えてもらわなくていい。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経営者向けの結論は「全部やれ」ではなく「1個だけ通せ」。ここを外すと実行されない。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3つとも「今日中に着手できる大きさ」に落としてある。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引用前提で配る場合は、この注記ページを外さないこと。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539496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581558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623620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93024" y="539496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93024" y="581558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93024" y="623620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13648" y="539496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13648" y="581558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13648" y="623620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34272" y="539496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34272" y="581558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34272" y="623620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54896" y="539496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54896" y="581558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54896" y="623620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75520" y="539496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75520" y="581558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75520" y="623620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96144" y="539496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296144" y="581558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96144" y="623620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16768" y="539496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716768" y="581558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716768" y="623620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137392" y="539496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137392" y="581558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37392" y="623620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558016" y="539496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58016" y="581558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558016" y="623620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105156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YOUTUBE 要点まとめ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5800" y="155448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</a:t>
            </a:r>
            <a:endParaRPr lang="en-US" sz="52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完全入門</a:t>
            </a:r>
            <a:endParaRPr lang="en-US" sz="5200" dirty="0"/>
          </a:p>
        </p:txBody>
      </p:sp>
      <p:sp>
        <p:nvSpPr>
          <p:cNvPr id="34" name="Text 32"/>
          <p:cNvSpPr/>
          <p:nvPr/>
        </p:nvSpPr>
        <p:spPr>
          <a:xfrm>
            <a:off x="685800" y="37947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誰でも使えるツール／実行革命／ChatGPTとの違い／5体のAIエージェント／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願望の質＝アウトプットの質／Skills活用法／経営者こそ使うべき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580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takuha ／ 社内共有用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818120" y="1554480"/>
            <a:ext cx="3611880" cy="3291840"/>
          </a:xfrm>
          <a:prstGeom prst="roundRect">
            <a:avLst>
              <a:gd name="adj" fmla="val 1667"/>
            </a:avLst>
          </a:prstGeom>
          <a:solidFill>
            <a:srgbClr val="182034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55864" y="1792224"/>
            <a:ext cx="118872" cy="118872"/>
          </a:xfrm>
          <a:prstGeom prst="ellipse">
            <a:avLst/>
          </a:prstGeom>
          <a:solidFill>
            <a:srgbClr val="E2603C"/>
          </a:solidFill>
          <a:ln/>
        </p:spPr>
      </p:sp>
      <p:sp>
        <p:nvSpPr>
          <p:cNvPr id="38" name="Shape 36"/>
          <p:cNvSpPr/>
          <p:nvPr/>
        </p:nvSpPr>
        <p:spPr>
          <a:xfrm>
            <a:off x="8293608" y="1792224"/>
            <a:ext cx="118872" cy="118872"/>
          </a:xfrm>
          <a:prstGeom prst="ellipse">
            <a:avLst/>
          </a:prstGeom>
          <a:solidFill>
            <a:srgbClr val="D8B24A"/>
          </a:solidFill>
          <a:ln/>
        </p:spPr>
      </p:sp>
      <p:sp>
        <p:nvSpPr>
          <p:cNvPr id="39" name="Shape 37"/>
          <p:cNvSpPr/>
          <p:nvPr/>
        </p:nvSpPr>
        <p:spPr>
          <a:xfrm>
            <a:off x="8531352" y="1792224"/>
            <a:ext cx="118872" cy="118872"/>
          </a:xfrm>
          <a:prstGeom prst="ellipse">
            <a:avLst/>
          </a:prstGeom>
          <a:solidFill>
            <a:srgbClr val="3FE0C8"/>
          </a:solidFill>
          <a:ln/>
        </p:spPr>
      </p:sp>
      <p:sp>
        <p:nvSpPr>
          <p:cNvPr id="40" name="Text 38"/>
          <p:cNvSpPr/>
          <p:nvPr/>
        </p:nvSpPr>
        <p:spPr>
          <a:xfrm>
            <a:off x="8055864" y="2157984"/>
            <a:ext cx="313639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$ claude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&gt; 先週の投稿をまとめて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レポートにして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ファイルを読んでいます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集計しています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report.md を書きました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818120" y="4983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聞くのではなく、終わらせてもらう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185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動画の8つの論点を、6つの要点に整理した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560320"/>
            <a:ext cx="530352" cy="384048"/>
          </a:xfrm>
          <a:prstGeom prst="roundRect">
            <a:avLst>
              <a:gd name="adj" fmla="val 11905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60320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618488" y="256032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実行革命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312724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提案するAIから、手を動かすAIへ。ChatGPTとは役割が違う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70832" y="22860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5152" y="2560320"/>
            <a:ext cx="530352" cy="384048"/>
          </a:xfrm>
          <a:prstGeom prst="roundRect">
            <a:avLst>
              <a:gd name="adj" fmla="val 11905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560320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0" y="256032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誰でも使える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45152" y="312724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打つのは日本語だけ。コードが読めなくても投げられる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55864" y="22860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30184" y="2560320"/>
            <a:ext cx="530352" cy="384048"/>
          </a:xfrm>
          <a:prstGeom prst="roundRect">
            <a:avLst>
              <a:gd name="adj" fmla="val 11905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2560320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88552" y="256032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5体のAIを並列で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30184" y="312724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作業を分けて同時に持たせる。速い理由は待ち時間の重なり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425196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4526280"/>
            <a:ext cx="530352" cy="384048"/>
          </a:xfrm>
          <a:prstGeom prst="roundRect">
            <a:avLst>
              <a:gd name="adj" fmla="val 11905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526280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18488" y="452628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願望の質＝出力の質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0120" y="509320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出力がボヤけるのは、欲しいものがボヤけているから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70832" y="425196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45152" y="4526280"/>
            <a:ext cx="530352" cy="384048"/>
          </a:xfrm>
          <a:prstGeom prst="roundRect">
            <a:avLst>
              <a:gd name="adj" fmla="val 11905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45152" y="4526280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03520" y="452628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Skills活用法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45152" y="509320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前提と手順を預けておくと、二度と説明しなくてよくなる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55864" y="425196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30184" y="4526280"/>
            <a:ext cx="530352" cy="384048"/>
          </a:xfrm>
          <a:prstGeom prst="roundRect">
            <a:avLst>
              <a:gd name="adj" fmla="val 11905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30184" y="4526280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988552" y="452628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経営者こそ使うべき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30184" y="509320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任せると判断が人づてになる。手が空いていない人ほど効く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417320" y="56692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実行革命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17043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「提案するAI」から「実行するAI」へ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2331720"/>
            <a:ext cx="5257800" cy="2926080"/>
          </a:xfrm>
          <a:prstGeom prst="roundRect">
            <a:avLst>
              <a:gd name="adj" fmla="val 1875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651760"/>
            <a:ext cx="4489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これまで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69848" y="3017520"/>
            <a:ext cx="4489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答えを教えてもらう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69848" y="3611880"/>
            <a:ext cx="4489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AIに聞く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返ってきたものを自分でコピペする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 → また聞く、をくり返す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手を動かすのは、最後まで自分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2331720"/>
            <a:ext cx="5257800" cy="2926080"/>
          </a:xfrm>
          <a:prstGeom prst="roundRect">
            <a:avLst>
              <a:gd name="adj" fmla="val 1875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2651760"/>
            <a:ext cx="4489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01968" y="3017520"/>
            <a:ext cx="4489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終わったものを受け取る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601968" y="3611880"/>
            <a:ext cx="4489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日本語で指示を出す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AIが自分でファイルを開いて書き換える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コマンドを実行し、動くところまで確認する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こちらは何も貼り付けていない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この差が「実行革命」。作業の主語がこちらから向こうへ移る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417320" y="56692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実行革命 ／ ChatGPTとの違い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17043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敵ではない。相談する相手と、作業する相手は別</a:t>
            </a:r>
            <a:endParaRPr lang="en-US" sz="3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D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8E7B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チャット型のAI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FE0C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Claude Code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立ち位置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8794A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相談する相手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作業する相手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出てくるもの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8794A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文章・案・書かれたコード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書き換わったファイル・実行結果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こちらの作業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8794A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読んで、選んで、自分で反映する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指示と、出てきたものの確認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向いている場面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8794A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考えを整理する・発散させる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決まったことを終わらせる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C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3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57150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「どちらが優れているか」ではなく、渡すものが違う。考えを固めるのは前者、終わらせるのは後者。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417320" y="56692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誰でも使えるツール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170432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コードが書けない人ほど、得をする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238658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3865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07592" y="233172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打つのは日本語だけ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07592" y="2752344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黒い画面で動くが、入力するのは日本語。コマンドを覚える必要はない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557016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07592" y="350215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コードが読めなくていい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07592" y="3922776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中身の判断は任せられる。確認するのは「やりたいことになっているか」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27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07592" y="467258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扱うのはコードだけじゃない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07592" y="50932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調べてまとめる、ファイルを整理する、決まった手順を毎回同じようにやる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35240" y="2194560"/>
            <a:ext cx="3840480" cy="2697480"/>
          </a:xfrm>
          <a:prstGeom prst="roundRect">
            <a:avLst>
              <a:gd name="adj" fmla="val 2034"/>
            </a:avLst>
          </a:prstGeom>
          <a:solidFill>
            <a:srgbClr val="182034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72984" y="2432304"/>
            <a:ext cx="118872" cy="118872"/>
          </a:xfrm>
          <a:prstGeom prst="ellipse">
            <a:avLst/>
          </a:prstGeom>
          <a:solidFill>
            <a:srgbClr val="E2603C"/>
          </a:solidFill>
          <a:ln/>
        </p:spPr>
      </p:sp>
      <p:sp>
        <p:nvSpPr>
          <p:cNvPr id="20" name="Shape 18"/>
          <p:cNvSpPr/>
          <p:nvPr/>
        </p:nvSpPr>
        <p:spPr>
          <a:xfrm>
            <a:off x="8110728" y="2432304"/>
            <a:ext cx="118872" cy="118872"/>
          </a:xfrm>
          <a:prstGeom prst="ellipse">
            <a:avLst/>
          </a:prstGeom>
          <a:solidFill>
            <a:srgbClr val="D8B24A"/>
          </a:solidFill>
          <a:ln/>
        </p:spPr>
      </p:sp>
      <p:sp>
        <p:nvSpPr>
          <p:cNvPr id="21" name="Shape 19"/>
          <p:cNvSpPr/>
          <p:nvPr/>
        </p:nvSpPr>
        <p:spPr>
          <a:xfrm>
            <a:off x="8348472" y="2432304"/>
            <a:ext cx="118872" cy="118872"/>
          </a:xfrm>
          <a:prstGeom prst="ellipse">
            <a:avLst/>
          </a:prstGeom>
          <a:solidFill>
            <a:srgbClr val="3FE0C8"/>
          </a:solidFill>
          <a:ln/>
        </p:spPr>
      </p:sp>
      <p:sp>
        <p:nvSpPr>
          <p:cNvPr id="22" name="Text 20"/>
          <p:cNvSpPr/>
          <p:nvPr/>
        </p:nvSpPr>
        <p:spPr>
          <a:xfrm>
            <a:off x="7872984" y="2798064"/>
            <a:ext cx="3364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&gt; 請求書のPDFを月ごとに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フォルダ分けして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42件を確認しました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12フォルダに整理しました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35240" y="5029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コードが1行も出てこない使い方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5943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完璧に理解してから触ろうとしないこと。1個投げてみるのが早い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417320" y="56692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5体のAIエージェントで実演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17043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作業を分けて、同時に持たせる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1体で順番に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670048"/>
            <a:ext cx="1225296" cy="45720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670048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57400" y="2670048"/>
            <a:ext cx="1225296" cy="45720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2670048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2670048"/>
            <a:ext cx="1225296" cy="45720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2670048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00600" y="2670048"/>
            <a:ext cx="1225296" cy="45720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2670048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2670048"/>
            <a:ext cx="1225296" cy="45720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670048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32004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待ち時間 × 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37947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5体で同時に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4178808"/>
            <a:ext cx="1225296" cy="292608"/>
          </a:xfrm>
          <a:prstGeom prst="roundRect">
            <a:avLst>
              <a:gd name="adj" fmla="val 12500"/>
            </a:avLst>
          </a:prstGeom>
          <a:solidFill>
            <a:srgbClr val="3FE0C8"/>
          </a:solidFill>
          <a:ln w="12700">
            <a:solidFill>
              <a:srgbClr val="3FE0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178808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3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4562856"/>
            <a:ext cx="1225296" cy="292608"/>
          </a:xfrm>
          <a:prstGeom prst="roundRect">
            <a:avLst>
              <a:gd name="adj" fmla="val 12500"/>
            </a:avLst>
          </a:prstGeom>
          <a:solidFill>
            <a:srgbClr val="3FE0C8"/>
          </a:solidFill>
          <a:ln w="12700">
            <a:solidFill>
              <a:srgbClr val="3FE0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562856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3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4946904"/>
            <a:ext cx="1225296" cy="292608"/>
          </a:xfrm>
          <a:prstGeom prst="roundRect">
            <a:avLst>
              <a:gd name="adj" fmla="val 12500"/>
            </a:avLst>
          </a:prstGeom>
          <a:solidFill>
            <a:srgbClr val="3FE0C8"/>
          </a:solidFill>
          <a:ln w="12700">
            <a:solidFill>
              <a:srgbClr val="3FE0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946904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3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5330952"/>
            <a:ext cx="1225296" cy="292608"/>
          </a:xfrm>
          <a:prstGeom prst="roundRect">
            <a:avLst>
              <a:gd name="adj" fmla="val 12500"/>
            </a:avLst>
          </a:prstGeom>
          <a:solidFill>
            <a:srgbClr val="3FE0C8"/>
          </a:solidFill>
          <a:ln w="12700">
            <a:solidFill>
              <a:srgbClr val="3FE0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5330952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3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715000"/>
            <a:ext cx="1225296" cy="292608"/>
          </a:xfrm>
          <a:prstGeom prst="roundRect">
            <a:avLst>
              <a:gd name="adj" fmla="val 12500"/>
            </a:avLst>
          </a:prstGeom>
          <a:solidFill>
            <a:srgbClr val="3FE0C8"/>
          </a:solidFill>
          <a:ln w="12700">
            <a:solidFill>
              <a:srgbClr val="3FE0C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71500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3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103120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待ち時間 × 1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863840" y="2286000"/>
            <a:ext cx="3611880" cy="3794760"/>
          </a:xfrm>
          <a:prstGeom prst="roundRect">
            <a:avLst>
              <a:gd name="adj" fmla="val 1519"/>
            </a:avLst>
          </a:prstGeom>
          <a:solidFill>
            <a:srgbClr val="121826"/>
          </a:solidFill>
          <a:ln w="12700">
            <a:solidFill>
              <a:srgbClr val="3C347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26060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E7B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速い理由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183880" y="2971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「たくさん動くから」ではなく、待ち時間が重なるから。1個ずつなら5回待つところが、1回分で終わる。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183880" y="42062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E7B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向き・不向き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83880" y="45720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向く：互いに関係のない作業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向かない：前の結果を見て次を決める作業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最初にやるなら「調べる」を分ける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6424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6424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6424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27048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27048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7048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47672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47672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47672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68296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68296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68296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88920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88920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88920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9544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9544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9544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30168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30168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30168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50792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50792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50792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71416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71416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71416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92040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92040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92040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12664" y="5257800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12664" y="5678424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12664" y="6099048"/>
            <a:ext cx="41148" cy="41148"/>
          </a:xfrm>
          <a:prstGeom prst="ellipse">
            <a:avLst/>
          </a:prstGeom>
          <a:solidFill>
            <a:srgbClr val="27324A"/>
          </a:solidFill>
          <a:ln w="12700">
            <a:solidFill>
              <a:srgbClr val="2732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85800" y="566928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5669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417320" y="56692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願望の質＝アウトプットの質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5800" y="164592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願望の質が、</a:t>
            </a:r>
            <a:endParaRPr lang="en-US" sz="4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そのまま出力の質になる</a:t>
            </a:r>
            <a:endParaRPr lang="en-US" sz="4000" dirty="0"/>
          </a:p>
        </p:txBody>
      </p:sp>
      <p:sp>
        <p:nvSpPr>
          <p:cNvPr id="42" name="Text 40"/>
          <p:cNvSpPr/>
          <p:nvPr/>
        </p:nvSpPr>
        <p:spPr>
          <a:xfrm>
            <a:off x="685800" y="38404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AIの出してくるものが微妙なとき、原因はAIではないことが多い。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自分が何を欲しいか分かっていない分だけ、出力もボヤける。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7635240" y="1691640"/>
            <a:ext cx="3840480" cy="1600200"/>
          </a:xfrm>
          <a:prstGeom prst="roundRect">
            <a:avLst>
              <a:gd name="adj" fmla="val 3429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5528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雑な指示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955280" y="22402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「いい感じにして」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955280" y="26700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いい感じの何かが返ってくる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7635240" y="3520440"/>
            <a:ext cx="3840480" cy="2194560"/>
          </a:xfrm>
          <a:prstGeom prst="roundRect">
            <a:avLst>
              <a:gd name="adj" fmla="val 2500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55280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3行足した指示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955280" y="406908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「新規の顧客向けに、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問い合わせを減らす目的で、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 10問が出たら完了」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955280" y="51663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返ってくるものが別物になる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417320" y="56692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言語化が全て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17043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指示に足すのは、この3行だけでいい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429000" cy="2834640"/>
          </a:xfrm>
          <a:prstGeom prst="roundRect">
            <a:avLst>
              <a:gd name="adj" fmla="val 1935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060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2461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誰のためか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その作業の受け取り手を決める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05840" y="43434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i="1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例）新規の顧客向けに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70832" y="2286000"/>
            <a:ext cx="3429000" cy="2834640"/>
          </a:xfrm>
          <a:prstGeom prst="roundRect">
            <a:avLst>
              <a:gd name="adj" fmla="val 1935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90872" y="26060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0872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90872" y="32461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何のためにやるのか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90872" y="37033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達成したい状態を1つに絞る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90872" y="43434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i="1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例）問い合わせを減らす目的で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55864" y="2286000"/>
            <a:ext cx="3429000" cy="2834640"/>
          </a:xfrm>
          <a:prstGeom prst="roundRect">
            <a:avLst>
              <a:gd name="adj" fmla="val 1935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75904" y="26060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75904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75904" y="32461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どうなったら終わりか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75904" y="37033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止める条件を数か形で置く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75904" y="43434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i="1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例）FAQが10問できたら完了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8580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これはAIを使う技術ではなく、欲しいものを言葉にする技術。伸ばすとAI以外の仕事も速くなる。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417320" y="56692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Skills活用法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17043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一度書けば、二度と説明しなくていい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5257800" cy="2331720"/>
          </a:xfrm>
          <a:prstGeom prst="roundRect">
            <a:avLst>
              <a:gd name="adj" fmla="val 2353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560320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69848" y="2962656"/>
            <a:ext cx="4489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前提を置いておく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9848" y="3364992"/>
            <a:ext cx="4489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プロジェクトのルール、うちのやり方、触ってほしくない場所。1回書けば毎回読まれるので、説明のやり直しが消える。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5257800" cy="2331720"/>
          </a:xfrm>
          <a:prstGeom prst="roundRect">
            <a:avLst>
              <a:gd name="adj" fmla="val 2353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2560320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Skills（SKILL.md）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01968" y="2962656"/>
            <a:ext cx="4489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手順そのものを預ける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01968" y="3364992"/>
            <a:ext cx="4489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「この作業はこう進める」を書いておくと、その場面が来たときに自分で読み込み、その通りに動く。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84632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1A1733"/>
          </a:solidFill>
          <a:ln w="12700">
            <a:solidFill>
              <a:srgbClr val="3C34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507492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効くのは速さより、頭の中にしかなかった「うちのやり方」が外に出ること。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人に引き継ぐときにも、そのまま渡せる。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50292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8E7B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</a:t>
            </a:r>
            <a:endParaRPr lang="en-US" sz="1600" dirty="0"/>
          </a:p>
          <a:p>
            <a:pPr algn="r"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8E7B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2回したら、書く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417320" y="56692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経営者こそ使うべき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17043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「詳しい人に任せる」が、いちばん損をする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5257800" cy="1572768"/>
          </a:xfrm>
          <a:prstGeom prst="roundRect">
            <a:avLst>
              <a:gd name="adj" fmla="val 3488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542032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判断が人づてになる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69848" y="2971800"/>
            <a:ext cx="4489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できる？と聞いて、返事を待って、また聞く。使えるかどうかの判断が自分の手から離れる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257800" cy="1572768"/>
          </a:xfrm>
          <a:prstGeom prst="roundRect">
            <a:avLst>
              <a:gd name="adj" fmla="val 3488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01968" y="2542032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できることの地図が持てない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601968" y="2971800"/>
            <a:ext cx="4489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地図がないと投資判断も採用もふわっとする。触れば報告を聞いた瞬間に妥当さが分かる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114800"/>
            <a:ext cx="5257800" cy="1572768"/>
          </a:xfrm>
          <a:prstGeom prst="roundRect">
            <a:avLst>
              <a:gd name="adj" fmla="val 3488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4370832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手が空いていない人ほど効く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69848" y="4800600"/>
            <a:ext cx="4489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細かい作業を自分でやる時間がない。そこに入ると効き方が大きい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4114800"/>
            <a:ext cx="5257800" cy="1572768"/>
          </a:xfrm>
          <a:prstGeom prst="roundRect">
            <a:avLst>
              <a:gd name="adj" fmla="val 3488"/>
            </a:avLst>
          </a:prstGeom>
          <a:solidFill>
            <a:srgbClr val="0E2A2A"/>
          </a:solidFill>
          <a:ln w="12700">
            <a:solidFill>
              <a:srgbClr val="2A6B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4370832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諦めていた側が動き出す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01968" y="4800600"/>
            <a:ext cx="4489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やらずに見送っていた仕事が実行の対象になる。増えるのは速度ではなく手数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全部を自分でやる必要はない。1個だけ最後まで自分の手で通すと、判断の精度が変わる。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NEXT ACTION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明日からやること、3つ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1371600" cy="1051560"/>
          </a:xfrm>
          <a:prstGeom prst="roundRect">
            <a:avLst>
              <a:gd name="adj" fmla="val 5217"/>
            </a:avLst>
          </a:prstGeom>
          <a:solidFill>
            <a:srgbClr val="3FE0C8"/>
          </a:solidFill>
          <a:ln w="12700">
            <a:solidFill>
              <a:srgbClr val="3FE0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9456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723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31720" y="228600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1個だけ、最後まで通す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331720" y="274320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小さくていい。指示から、出てきたものの確認までを自分の手で1周する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520440"/>
            <a:ext cx="1371600" cy="1051560"/>
          </a:xfrm>
          <a:prstGeom prst="roundRect">
            <a:avLst>
              <a:gd name="adj" fmla="val 5217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52044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87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331720" y="361188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同じ説明を2回したら書く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331720" y="406908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前提はCLAUDE.mdへ、手順はSkillsへ。書いた分だけ次から説明が消える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846320"/>
            <a:ext cx="1371600" cy="1051560"/>
          </a:xfrm>
          <a:prstGeom prst="roundRect">
            <a:avLst>
              <a:gd name="adj" fmla="val 5217"/>
            </a:avLst>
          </a:prstGeom>
          <a:solidFill>
            <a:srgbClr val="121826"/>
          </a:solidFill>
          <a:ln w="12700">
            <a:solidFill>
              <a:srgbClr val="232C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84632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87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31720" y="493776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関係ない作業から並列にする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331720" y="539496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まずは「調べる」を分けて同時に走らせ、最後に自分でまとめる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05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出典・注記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9659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元動画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22860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【Claude Code完全入門】誰でも使えるツール／実行革命／ChatGPTとの違い／5体のAIエージェントで実演／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願望の質＝アウトプットの質／Skills活用法／経営者こそ使うべき／言語化が全て（2026年3月公開）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https://youtu.be/LRSSjGwsuv0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3657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E0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本資料の作り方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402336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本編映像・字幕は取得できていない。タイトルに並ぶ8つの論点と、Claude Code の実際の仕様をもとに構成している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元動画固有のエピソードや数字は含まれていない。引用する場合は本編を確認のうえ追記すること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4CDE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料金・プラン・モデル世代は変わるため、意図的に触れていない。必要なら公式ドキュメントを参照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589788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794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takuha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完全入門 — 要点まとめ</dc:title>
  <dc:subject>PptxGenJS Presentation</dc:subject>
  <dc:creator>takuha</dc:creator>
  <cp:lastModifiedBy>takuha</cp:lastModifiedBy>
  <cp:revision>1</cp:revision>
  <dcterms:created xsi:type="dcterms:W3CDTF">2026-08-09T23:07:56Z</dcterms:created>
  <dcterms:modified xsi:type="dcterms:W3CDTF">2026-08-09T23:07:56Z</dcterms:modified>
</cp:coreProperties>
</file>