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1B2148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137160"/>
            <a:ext cx="2011680" cy="2011680"/>
          </a:xfrm>
          <a:prstGeom prst="diamond">
            <a:avLst/>
          </a:prstGeom>
          <a:ln w="19050">
            <a:solidFill>
              <a:srgbClr val="5FD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04120" y="320040"/>
            <a:ext cx="1097280" cy="1097280"/>
          </a:xfrm>
          <a:prstGeom prst="diamond">
            <a:avLst/>
          </a:prstGeom>
          <a:solidFill>
            <a:srgbClr val="5FD4E8">
              <a:alpha val="30000"/>
            </a:srgbClr>
          </a:solidFill>
          <a:ln w="12700">
            <a:solidFill>
              <a:srgbClr val="5FD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9/7 博多アポ　人工ダイヤモンド事業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外注形式・売上25%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条件整理資料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入江さんとの打ち合わせ用たたき台　—　確定事項と、当日詰める論点の整理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0" cy="0"/>
          </a:xfrm>
          <a:prstGeom prst="line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作成日　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2026-08-22</a:t>
            </a:r>
            <a:pPr indent="0" marL="0">
              <a:buNone/>
            </a:pPr>
            <a:r>
              <a:rPr lang="en-US" sz="11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対象アポ　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2026-09-07（博多）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案件概要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人工ダイヤモンド事業の外注体制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入江さんとの人工ダイヤモンド案件について、業務の役割分担と報酬条件（売上25%）を整理する。9/7博多のアポでは、下記のうち「確定」と「要協議」を分けたうえで、要協議の項目を詰める。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27288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971800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880360"/>
            <a:ext cx="435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確定事項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6328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業務範囲（外注先／こちら）の分担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報酬は売上（ダイヤ販売価格）の25%、こちらが受領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支払いタイミング：月末締め・翌月25日払い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契約期間：1年（仮）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2651760"/>
            <a:ext cx="527288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98768" y="2971800"/>
            <a:ext cx="146304" cy="146304"/>
          </a:xfrm>
          <a:prstGeom prst="ellipse">
            <a:avLst/>
          </a:prstGeom>
          <a:solidFill>
            <a:srgbClr val="D98C2B"/>
          </a:solidFill>
          <a:ln/>
        </p:spPr>
      </p:sp>
      <p:sp>
        <p:nvSpPr>
          <p:cNvPr id="11" name="Text 9"/>
          <p:cNvSpPr/>
          <p:nvPr/>
        </p:nvSpPr>
        <p:spPr>
          <a:xfrm>
            <a:off x="6873088" y="2880360"/>
            <a:ext cx="435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要協議（9/7で詰める）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98768" y="3429000"/>
            <a:ext cx="46328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25%の具体的な計算方法（参照サイト未確定）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契約更新の条件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解約条件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85855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業務範囲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役割分担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27168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40280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外注先（入江さん側）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606040"/>
            <a:ext cx="431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製造・実務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3246120"/>
            <a:ext cx="4312768" cy="0"/>
          </a:xfrm>
          <a:prstGeom prst="line">
            <a:avLst/>
          </a:prstGeom>
          <a:noFill/>
          <a:ln w="12700">
            <a:solidFill>
              <a:srgbClr val="E4E8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520440"/>
            <a:ext cx="431276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○"/>
            </a:pPr>
            <a:r>
              <a:rPr lang="en-US" sz="15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人工ダイヤモンドの仕入れ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○"/>
            </a:pPr>
            <a:r>
              <a:rPr lang="en-US" sz="15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加工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○"/>
            </a:pPr>
            <a:r>
              <a:rPr lang="en-US" sz="15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○"/>
            </a:pPr>
            <a:r>
              <a:rPr lang="en-US" sz="15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発送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○"/>
            </a:pPr>
            <a:r>
              <a:rPr lang="en-US" sz="15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支払い（仕入・製造にかかる支払い）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24448" y="1828800"/>
            <a:ext cx="5227168" cy="4297680"/>
          </a:xfrm>
          <a:prstGeom prst="roundRect">
            <a:avLst>
              <a:gd name="adj" fmla="val 2553"/>
            </a:avLst>
          </a:prstGeom>
          <a:solidFill>
            <a:srgbClr val="111633"/>
          </a:solidFill>
          <a:ln/>
        </p:spPr>
      </p:sp>
      <p:sp>
        <p:nvSpPr>
          <p:cNvPr id="10" name="Text 8"/>
          <p:cNvSpPr/>
          <p:nvPr/>
        </p:nvSpPr>
        <p:spPr>
          <a:xfrm>
            <a:off x="6781648" y="2240280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こちら（Taku）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81648" y="2606040"/>
            <a:ext cx="431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販路・集客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781648" y="3246120"/>
            <a:ext cx="4312768" cy="0"/>
          </a:xfrm>
          <a:prstGeom prst="line">
            <a:avLst/>
          </a:prstGeom>
          <a:noFill/>
          <a:ln w="12700">
            <a:solidFill>
              <a:srgbClr val="3A4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1648" y="3520440"/>
            <a:ext cx="431276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○"/>
            </a:pPr>
            <a:r>
              <a:rPr lang="en-US" sz="1500" dirty="0">
                <a:solidFill>
                  <a:srgbClr val="D7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マーケティング全般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85855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報酬条件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売上の25%をこちらが受領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1B21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F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ダイヤの販売価格に対する割合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受領：こちら（Taku）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8745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算定の対象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2402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人工ダイヤモンドの「販売価格」の25%を基準とする。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3017520"/>
            <a:ext cx="6675120" cy="1737360"/>
          </a:xfrm>
          <a:prstGeom prst="roundRect">
            <a:avLst>
              <a:gd name="adj" fmla="val 5263"/>
            </a:avLst>
          </a:prstGeom>
          <a:solidFill>
            <a:srgbClr val="3A2A12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3200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要確認：25%の具体的な計算方法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361188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参考サイトの名称・URLが未確定のため本資料には未反映。税込／税抜どちらを基準にするか、送料・手数料を含めるかも合わせて確定する。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49834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9/7 で確認すること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53492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7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参照サイトの名称・URLを確定する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7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価格の基準（税込/税抜・送料の扱い）を確認する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85855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支払い条件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月末締め・翌月25日払い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3291840"/>
            <a:ext cx="8595360" cy="0"/>
          </a:xfrm>
          <a:prstGeom prst="line">
            <a:avLst/>
          </a:prstGeom>
          <a:noFill/>
          <a:ln w="25400">
            <a:solidFill>
              <a:srgbClr val="C7CF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5024" y="3163824"/>
            <a:ext cx="256032" cy="256032"/>
          </a:xfrm>
          <a:prstGeom prst="ellipse">
            <a:avLst/>
          </a:prstGeom>
          <a:solidFill>
            <a:srgbClr val="1116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売上締め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30384" y="3163824"/>
            <a:ext cx="256032" cy="256032"/>
          </a:xfrm>
          <a:prstGeom prst="ellipse">
            <a:avLst/>
          </a:prstGeom>
          <a:solidFill>
            <a:srgbClr val="1116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翌月25日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6968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支払い実行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翌月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毎月末で当月分の売上（＝報酬25%の対象）を締め、翌月25日に支払う。振込手数料の負担・請求書の要否は別途確認。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85855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契約条件（要協議）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契約期間・更新・解約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93338" cy="4297680"/>
          </a:xfrm>
          <a:prstGeom prst="roundRect">
            <a:avLst>
              <a:gd name="adj" fmla="val 3234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14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仮決定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27532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契約期間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5325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起算日をいつにするか（契約締結日／初回発送日など）は未確認。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9178" y="1828800"/>
            <a:ext cx="3393338" cy="4297680"/>
          </a:xfrm>
          <a:prstGeom prst="roundRect">
            <a:avLst>
              <a:gd name="adj" fmla="val 3234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14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9218" y="21488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D98C2B"/>
          </a:solidFill>
          <a:ln/>
        </p:spPr>
      </p:sp>
      <p:sp>
        <p:nvSpPr>
          <p:cNvPr id="11" name="Text 9"/>
          <p:cNvSpPr/>
          <p:nvPr/>
        </p:nvSpPr>
        <p:spPr>
          <a:xfrm>
            <a:off x="4719218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要協議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19218" y="2651760"/>
            <a:ext cx="27532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更新条件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19218" y="3429000"/>
            <a:ext cx="275325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自動更新か都度合意か、更新時に条件（25%など）を見直すかを9/7で決める。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8277" y="1828800"/>
            <a:ext cx="3393338" cy="4297680"/>
          </a:xfrm>
          <a:prstGeom prst="roundRect">
            <a:avLst>
              <a:gd name="adj" fmla="val 3234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14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8317" y="21488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D98C2B"/>
          </a:solidFill>
          <a:ln/>
        </p:spPr>
      </p:sp>
      <p:sp>
        <p:nvSpPr>
          <p:cNvPr id="16" name="Text 14"/>
          <p:cNvSpPr/>
          <p:nvPr/>
        </p:nvSpPr>
        <p:spPr>
          <a:xfrm>
            <a:off x="8478317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要協議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78317" y="2651760"/>
            <a:ext cx="27532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解約条件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8317" y="3429000"/>
            <a:ext cx="275325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解約の予告期間、途中解約時の精算方法（進行中の在庫・発送分の扱い）を9/7で決める。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185855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1B21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9/7 博多アポ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当日、入江さんと確認すること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F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20574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25%の計算方法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参照サイトの名称・URL、税込/税抜・送料の扱い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F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9260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契約更新条件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自動更新か都度合意か、更新時の条件見直しの有無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F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379476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解約条件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予告期間、途中解約時の在庫・発送分の精算方法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F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46634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契約期間（1年）の起算日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契約締結日／初回発送日など、基準日を確定する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上記4点が埋まれば、外注契約の合意書に落とし込める状態になる。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85855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2026-08-22T02:35:49Z</dcterms:created>
  <dcterms:modified xsi:type="dcterms:W3CDTF">2026-08-22T02:35:49Z</dcterms:modified>
</cp:coreProperties>
</file>